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i2WyWbymMnGoDczXM0hKPYsa89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f69190f83_1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f69190f83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f69190f83_1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f69190f83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135495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Depression Detection from Social Media</a:t>
            </a:r>
            <a:endParaRPr b="1" sz="4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Sarcasm Awareness</a:t>
            </a:r>
            <a:endParaRPr b="1" sz="4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23125" y="3962150"/>
            <a:ext cx="6400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NLP Final Project</a:t>
            </a:r>
            <a:endParaRPr b="1"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b="1"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b="1"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Anuj Prakash</a:t>
            </a:r>
            <a:endParaRPr b="1"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Project Introduction &amp; Goal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Social media platforms like Reddit often contain early linguistic signals of depression.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Sarcasm and irony can confuse standard depression detection models.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Goal: Build an NLP system that detects depressive language and accounts for sarcasm to make predictions more reliable and interpretable.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Motivation &amp; Real-World Impact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spcBef>
                <a:spcPts val="64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Supports large-scale mental health research by analyzing linguistic patterns in social media text.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Improves reliability of depression detection models by explicitly handling sarcasm which is a known NLP challenge.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Useful for research teams and platform analysts studying emotional trends, not for clinical diagnosis.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400">
                <a:latin typeface="Times New Roman"/>
                <a:ea typeface="Times New Roman"/>
                <a:cs typeface="Times New Roman"/>
                <a:sym typeface="Times New Roman"/>
              </a:rPr>
              <a:t>Model Architecture &amp; Error-Aware Design</a:t>
            </a:r>
            <a:endParaRPr b="1"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473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l">
              <a:spcBef>
                <a:spcPts val="64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Text Preprocessing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Depression Classifier (DistilBERT)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Error Analysis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Sarcasm Classifier (DistilBERT)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Interpretation Layer (Logic on Top of Both Models)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High depression, low sarcasm → likely genuine distress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- High depression, high sarcasm → “depressed but sarcastic” → treat with caution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- Non-depressed, high sarcasm → likely joking/ironic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Model Performance &amp; Key Insights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Depression Model (DistilBERT)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Accuracy ≈ 98%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Macro F1 ≈ 0.98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Key Insight from Error Analysis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Only ~29 misclassified samples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Many errors involved sarcastic or ironic language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Sarcasm Model (DistilBERT)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Accuracy ≈ 78%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Macro F1 ≈ 0.78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Design Outcome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Added sarcasm detection to flag unreliable predictions instead of hiding them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f69190f83_1_77"/>
          <p:cNvSpPr txBox="1"/>
          <p:nvPr>
            <p:ph type="title"/>
          </p:nvPr>
        </p:nvSpPr>
        <p:spPr>
          <a:xfrm>
            <a:off x="457200" y="274650"/>
            <a:ext cx="8229600" cy="728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Model Performance &amp; Key Insights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g3af69190f83_1_7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g3af69190f83_1_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100" y="1502950"/>
            <a:ext cx="3035803" cy="251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af69190f83_1_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5782" y="1365650"/>
            <a:ext cx="3113543" cy="265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af69190f83_1_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8488" y="4519500"/>
            <a:ext cx="2867024" cy="2198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af69190f83_1_77"/>
          <p:cNvSpPr txBox="1"/>
          <p:nvPr/>
        </p:nvSpPr>
        <p:spPr>
          <a:xfrm>
            <a:off x="5841900" y="1038400"/>
            <a:ext cx="2338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Sarcasm Confusion Matrix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g3af69190f83_1_77"/>
          <p:cNvSpPr txBox="1"/>
          <p:nvPr/>
        </p:nvSpPr>
        <p:spPr>
          <a:xfrm>
            <a:off x="894750" y="1107050"/>
            <a:ext cx="2338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Depression Confusion Matrix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af69190f83_1_77"/>
          <p:cNvSpPr txBox="1"/>
          <p:nvPr/>
        </p:nvSpPr>
        <p:spPr>
          <a:xfrm>
            <a:off x="3479800" y="4229100"/>
            <a:ext cx="2184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 Graph for error analysis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 &amp; Output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Gradio-based interactive demo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Shows predictions + confidence scores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Flags unreliable predictions due to sarcasm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 &amp; Imp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rovements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8">
                <a:latin typeface="Times New Roman"/>
                <a:ea typeface="Times New Roman"/>
                <a:cs typeface="Times New Roman"/>
                <a:sym typeface="Times New Roman"/>
              </a:rPr>
              <a:t>Model-Level:</a:t>
            </a:r>
            <a:endParaRPr b="1" sz="33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242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Multi-task learning for joint depression + sarcasm detection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24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Use RoBERTa/BERT-large for better sarcasm representation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8">
                <a:latin typeface="Times New Roman"/>
                <a:ea typeface="Times New Roman"/>
                <a:cs typeface="Times New Roman"/>
                <a:sym typeface="Times New Roman"/>
              </a:rPr>
              <a:t>Application-Level:</a:t>
            </a:r>
            <a:endParaRPr b="1" sz="33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242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Add emotion and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stress-level detection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242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Track user sentiment change over time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3308">
                <a:latin typeface="Times New Roman"/>
                <a:ea typeface="Times New Roman"/>
                <a:cs typeface="Times New Roman"/>
                <a:sym typeface="Times New Roman"/>
              </a:rPr>
              <a:t>Research-Level:</a:t>
            </a:r>
            <a:endParaRPr b="1" sz="33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242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Explore explainability (SHAP, attention heatmaps)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f69190f83_1_45"/>
          <p:cNvSpPr txBox="1"/>
          <p:nvPr/>
        </p:nvSpPr>
        <p:spPr>
          <a:xfrm>
            <a:off x="1670100" y="2775000"/>
            <a:ext cx="58038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br>
              <a:rPr b="1" lang="en-US" sz="6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questions?</a:t>
            </a:r>
            <a:endParaRPr b="1" sz="6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